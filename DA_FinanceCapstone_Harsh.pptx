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"/>
  </p:notesMasterIdLst>
  <p:sldIdLst>
    <p:sldId id="256" r:id="rId2"/>
    <p:sldId id="266" r:id="rId3"/>
    <p:sldId id="257" r:id="rId4"/>
    <p:sldId id="258" r:id="rId5"/>
    <p:sldId id="260" r:id="rId6"/>
    <p:sldId id="262" r:id="rId7"/>
    <p:sldId id="268" r:id="rId8"/>
    <p:sldId id="263" r:id="rId9"/>
    <p:sldId id="264" r:id="rId10"/>
    <p:sldId id="267" r:id="rId11"/>
    <p:sldId id="259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1621A-604B-465F-81EA-B59ED110A6E8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2D56B-FD09-4C14-80E5-8EB9D113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435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2D56B-FD09-4C14-80E5-8EB9D113AB0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06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53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05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51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27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56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412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28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74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18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01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088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6918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59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780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47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164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73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CDC9C-DBAE-46D8-876D-4D79D5E55703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F5150-BF1D-4D4F-9568-25FFA3548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7F55-FF81-9475-364C-EB9A968217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Capstone Project</a:t>
            </a:r>
            <a:br>
              <a:rPr lang="en-IN" dirty="0"/>
            </a:br>
            <a:r>
              <a:rPr lang="en-IN" sz="3600" dirty="0"/>
              <a:t>Finance and Risk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3892C-508D-CB25-67C3-F4209C631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Siddhartha Srivastava and Harsh PatiL – DS C74</a:t>
            </a:r>
          </a:p>
        </p:txBody>
      </p:sp>
    </p:spTree>
    <p:extLst>
      <p:ext uri="{BB962C8B-B14F-4D97-AF65-F5344CB8AC3E}">
        <p14:creationId xmlns:p14="http://schemas.microsoft.com/office/powerpoint/2010/main" val="93543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93"/>
    </mc:Choice>
    <mc:Fallback xmlns="">
      <p:transition spd="slow" advTm="1489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076A-DAF7-4B05-D5CA-1B5C1C7D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09BF-54CE-ABB7-35C8-2543EBBE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2717"/>
          </a:xfrm>
        </p:spPr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BDBC8-FF55-075F-8E4E-BF6748B1A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962"/>
            <a:ext cx="9426505" cy="424219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Business Case</a:t>
            </a:r>
          </a:p>
          <a:p>
            <a:r>
              <a:rPr lang="en-IN" dirty="0"/>
              <a:t>Data Provided</a:t>
            </a:r>
          </a:p>
          <a:p>
            <a:r>
              <a:rPr lang="en-IN" dirty="0"/>
              <a:t>Conclusion (Suggested Portfolio)</a:t>
            </a:r>
          </a:p>
          <a:p>
            <a:r>
              <a:rPr lang="en-IN" dirty="0"/>
              <a:t>Data Insights</a:t>
            </a:r>
          </a:p>
          <a:p>
            <a:pPr lvl="1"/>
            <a:r>
              <a:rPr lang="en-IN" dirty="0"/>
              <a:t>Returns &amp; Risk</a:t>
            </a:r>
          </a:p>
          <a:p>
            <a:pPr lvl="1"/>
            <a:r>
              <a:rPr lang="en-IN" dirty="0"/>
              <a:t>Sector Analysis</a:t>
            </a:r>
          </a:p>
          <a:p>
            <a:pPr lvl="1"/>
            <a:r>
              <a:rPr lang="en-IN" dirty="0"/>
              <a:t>Correlation</a:t>
            </a:r>
          </a:p>
          <a:p>
            <a:r>
              <a:rPr lang="en-IN" dirty="0"/>
              <a:t>Appendix </a:t>
            </a:r>
          </a:p>
          <a:p>
            <a:pPr lvl="1"/>
            <a:r>
              <a:rPr lang="en-IN" dirty="0"/>
              <a:t>Steps followed</a:t>
            </a:r>
          </a:p>
          <a:p>
            <a:pPr lvl="1"/>
            <a:r>
              <a:rPr lang="en-IN" dirty="0"/>
              <a:t>Summary of Metrics</a:t>
            </a:r>
          </a:p>
          <a:p>
            <a:pPr lvl="1"/>
            <a:r>
              <a:rPr lang="en-GB" dirty="0"/>
              <a:t>Portfolio Returns</a:t>
            </a:r>
          </a:p>
          <a:p>
            <a:pPr lvl="2"/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067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74"/>
    </mc:Choice>
    <mc:Fallback xmlns="">
      <p:transition spd="slow" advTm="3127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6636EA0-6A2D-6851-B018-4BFF5ACFA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479" y="2484783"/>
            <a:ext cx="7229713" cy="3693784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878B8E-2B2B-3C43-F782-DC29425B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3569"/>
          </a:xfrm>
        </p:spPr>
        <p:txBody>
          <a:bodyPr/>
          <a:lstStyle/>
          <a:p>
            <a:r>
              <a:rPr lang="en-IN" dirty="0"/>
              <a:t>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184C5-2544-49B4-499F-8D4266F09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962"/>
            <a:ext cx="9426505" cy="4242191"/>
          </a:xfrm>
        </p:spPr>
        <p:txBody>
          <a:bodyPr/>
          <a:lstStyle/>
          <a:p>
            <a:r>
              <a:rPr lang="en-GB" sz="2000" dirty="0"/>
              <a:t>Analyse a portfolio of stocks to provide consultation on investment management based on two clients’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50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86"/>
    </mc:Choice>
    <mc:Fallback xmlns="">
      <p:transition spd="slow" advTm="7548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88DB-7D20-D494-26C4-29F6DF29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FF919-CFE3-F0C6-09B9-9FEE1636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2717"/>
          </a:xfrm>
        </p:spPr>
        <p:txBody>
          <a:bodyPr/>
          <a:lstStyle/>
          <a:p>
            <a:r>
              <a:rPr lang="en-IN" dirty="0"/>
              <a:t>Data Provided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559D-0230-6C21-FF3F-C8808FF4F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962"/>
            <a:ext cx="9426505" cy="424219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Prices for </a:t>
            </a:r>
            <a:r>
              <a:rPr lang="en-GB" dirty="0"/>
              <a:t>24 stocks of leading companies listed on New York Stock Exchange (NYSE)</a:t>
            </a:r>
          </a:p>
          <a:p>
            <a:r>
              <a:rPr lang="en-GB" dirty="0"/>
              <a:t>The information for every stock ranges from 1st October 2010 to 30th September 2020</a:t>
            </a:r>
          </a:p>
          <a:p>
            <a:r>
              <a:rPr lang="en-GB" dirty="0"/>
              <a:t>Sectors covered</a:t>
            </a:r>
          </a:p>
          <a:p>
            <a:pPr lvl="1"/>
            <a:r>
              <a:rPr lang="en-GB" dirty="0"/>
              <a:t>Technology/IT</a:t>
            </a:r>
          </a:p>
          <a:p>
            <a:pPr lvl="1"/>
            <a:r>
              <a:rPr lang="en-GB" dirty="0"/>
              <a:t>Travel/Aviation/Hospitality</a:t>
            </a:r>
          </a:p>
          <a:p>
            <a:pPr lvl="1"/>
            <a:r>
              <a:rPr lang="en-GB" dirty="0"/>
              <a:t>Banking/Financial Services and Insurance</a:t>
            </a:r>
          </a:p>
          <a:p>
            <a:pPr lvl="1"/>
            <a:r>
              <a:rPr lang="en-GB" dirty="0"/>
              <a:t>Pharmaceuticals/Healthcare/Life Sciences</a:t>
            </a:r>
          </a:p>
          <a:p>
            <a:r>
              <a:rPr lang="en-GB" dirty="0"/>
              <a:t>S&amp;P 500 index prices provided as benchmark for the same period</a:t>
            </a:r>
          </a:p>
          <a:p>
            <a:r>
              <a:rPr lang="en-GB" dirty="0"/>
              <a:t>Steps followed have been provided as Appendix - I for reference</a:t>
            </a:r>
          </a:p>
          <a:p>
            <a:r>
              <a:rPr lang="en-GB" b="1" dirty="0"/>
              <a:t>Assumption: Data for past 5 years is to be analysed and used to project next 5 years returns</a:t>
            </a:r>
          </a:p>
          <a:p>
            <a:pPr lvl="2"/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98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47"/>
    </mc:Choice>
    <mc:Fallback xmlns="">
      <p:transition spd="slow" advTm="5004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8D1F-D8A0-0DA2-8CFF-DA0FA8566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2FF3-8042-965C-020D-9EA5A48E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66943"/>
          </a:xfrm>
        </p:spPr>
        <p:txBody>
          <a:bodyPr/>
          <a:lstStyle/>
          <a:p>
            <a:r>
              <a:rPr lang="en-IN" dirty="0"/>
              <a:t>Conclusion: Suggested Portfolio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5009B5-F793-A033-47C3-B7B00086DE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825435"/>
              </p:ext>
            </p:extLst>
          </p:nvPr>
        </p:nvGraphicFramePr>
        <p:xfrm>
          <a:off x="838200" y="1490870"/>
          <a:ext cx="10515600" cy="479596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80322">
                  <a:extLst>
                    <a:ext uri="{9D8B030D-6E8A-4147-A177-3AD203B41FA5}">
                      <a16:colId xmlns:a16="http://schemas.microsoft.com/office/drawing/2014/main" val="3882653485"/>
                    </a:ext>
                  </a:extLst>
                </a:gridCol>
                <a:gridCol w="4287078">
                  <a:extLst>
                    <a:ext uri="{9D8B030D-6E8A-4147-A177-3AD203B41FA5}">
                      <a16:colId xmlns:a16="http://schemas.microsoft.com/office/drawing/2014/main" val="203037497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1848685059"/>
                    </a:ext>
                  </a:extLst>
                </a:gridCol>
              </a:tblGrid>
              <a:tr h="403036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Mr. Patrick </a:t>
                      </a:r>
                      <a:r>
                        <a:rPr lang="en-IN" sz="1600" dirty="0" err="1"/>
                        <a:t>Jyengar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Mr. Peter </a:t>
                      </a:r>
                      <a:r>
                        <a:rPr lang="en-IN" sz="1600" dirty="0" err="1"/>
                        <a:t>Jyengar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78130"/>
                  </a:ext>
                </a:extLst>
              </a:tr>
              <a:tr h="392094">
                <a:tc>
                  <a:txBody>
                    <a:bodyPr/>
                    <a:lstStyle/>
                    <a:p>
                      <a:r>
                        <a:rPr lang="en-IN" sz="1600" dirty="0"/>
                        <a:t>Invested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USD 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Invested Amount: USD 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255891"/>
                  </a:ext>
                </a:extLst>
              </a:tr>
              <a:tr h="392094">
                <a:tc>
                  <a:txBody>
                    <a:bodyPr/>
                    <a:lstStyle/>
                    <a:p>
                      <a:r>
                        <a:rPr lang="en-IN" sz="1600" dirty="0"/>
                        <a:t>Expected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773984"/>
                  </a:ext>
                </a:extLst>
              </a:tr>
              <a:tr h="392094">
                <a:tc>
                  <a:txBody>
                    <a:bodyPr/>
                    <a:lstStyle/>
                    <a:p>
                      <a:r>
                        <a:rPr lang="en-IN" sz="1600" dirty="0"/>
                        <a:t>Expected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602300"/>
                  </a:ext>
                </a:extLst>
              </a:tr>
              <a:tr h="1415673">
                <a:tc>
                  <a:txBody>
                    <a:bodyPr/>
                    <a:lstStyle/>
                    <a:p>
                      <a:r>
                        <a:rPr lang="en-IN" sz="1600" dirty="0"/>
                        <a:t>Suggested stocks &amp;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JNJ (Johnson &amp; Johnson) – 25%</a:t>
                      </a:r>
                    </a:p>
                    <a:p>
                      <a:r>
                        <a:rPr lang="en-IN" sz="1600" dirty="0"/>
                        <a:t>RHHBY (Roche Holding AG) – 25%</a:t>
                      </a:r>
                    </a:p>
                    <a:p>
                      <a:r>
                        <a:rPr lang="en-IN" sz="1600" dirty="0"/>
                        <a:t>MRK (Merck and Co Inc) – 25%</a:t>
                      </a:r>
                    </a:p>
                    <a:p>
                      <a:r>
                        <a:rPr lang="en-IN" sz="1600" dirty="0"/>
                        <a:t>MSFT (Microsoft) – 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AMZN (Amazon) – 20%</a:t>
                      </a:r>
                    </a:p>
                    <a:p>
                      <a:r>
                        <a:rPr lang="en-IN" sz="1600" dirty="0"/>
                        <a:t>MSFT (Microsoft) – 20%</a:t>
                      </a:r>
                    </a:p>
                    <a:p>
                      <a:r>
                        <a:rPr lang="en-IN" sz="1600" dirty="0"/>
                        <a:t>AAPL (Apple) – 20%</a:t>
                      </a:r>
                    </a:p>
                    <a:p>
                      <a:r>
                        <a:rPr lang="en-IN" sz="1600" dirty="0"/>
                        <a:t>FB (Facebook) – 20%</a:t>
                      </a:r>
                    </a:p>
                    <a:p>
                      <a:r>
                        <a:rPr lang="en-IN" sz="1600" dirty="0"/>
                        <a:t>UNH (United Health Group Inc) – 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608750"/>
                  </a:ext>
                </a:extLst>
              </a:tr>
              <a:tr h="642730">
                <a:tc>
                  <a:txBody>
                    <a:bodyPr/>
                    <a:lstStyle/>
                    <a:p>
                      <a:r>
                        <a:rPr lang="en-IN" sz="1600" dirty="0"/>
                        <a:t>Expected return (after 5 yrs)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310%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165127"/>
                  </a:ext>
                </a:extLst>
              </a:tr>
              <a:tr h="403036">
                <a:tc>
                  <a:txBody>
                    <a:bodyPr/>
                    <a:lstStyle/>
                    <a:p>
                      <a:r>
                        <a:rPr lang="en-IN" sz="1600" dirty="0"/>
                        <a:t>Portfolio Risk (Annualized)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29.65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464423"/>
                  </a:ext>
                </a:extLst>
              </a:tr>
              <a:tr h="403036">
                <a:tc>
                  <a:txBody>
                    <a:bodyPr/>
                    <a:lstStyle/>
                    <a:p>
                      <a:r>
                        <a:rPr lang="en-IN" sz="1600" dirty="0"/>
                        <a:t>Portfolio Value (after 5 yrs)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USD 1,116,000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USD 4,100,000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03043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FB9BD26-C249-6492-753F-41433B453E85}"/>
              </a:ext>
            </a:extLst>
          </p:cNvPr>
          <p:cNvSpPr txBox="1"/>
          <p:nvPr/>
        </p:nvSpPr>
        <p:spPr>
          <a:xfrm>
            <a:off x="838200" y="6492240"/>
            <a:ext cx="4590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* Past 5 years returns are used to project next 5 years returns</a:t>
            </a:r>
          </a:p>
        </p:txBody>
      </p:sp>
    </p:spTree>
    <p:extLst>
      <p:ext uri="{BB962C8B-B14F-4D97-AF65-F5344CB8AC3E}">
        <p14:creationId xmlns:p14="http://schemas.microsoft.com/office/powerpoint/2010/main" val="183847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675"/>
    </mc:Choice>
    <mc:Fallback xmlns="">
      <p:transition spd="slow" advTm="8967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95D40-DE42-150E-F307-85F42FB19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6B7D-E70A-C369-F2C6-F98A79843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2717"/>
          </a:xfrm>
        </p:spPr>
        <p:txBody>
          <a:bodyPr/>
          <a:lstStyle/>
          <a:p>
            <a:r>
              <a:rPr lang="en-IN" dirty="0"/>
              <a:t>DATA Insights -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CBCD3-9E47-3075-969C-3B26333F7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962"/>
            <a:ext cx="4999383" cy="4242191"/>
          </a:xfrm>
        </p:spPr>
        <p:txBody>
          <a:bodyPr>
            <a:normAutofit/>
          </a:bodyPr>
          <a:lstStyle/>
          <a:p>
            <a:r>
              <a:rPr lang="en-IN" dirty="0"/>
              <a:t>12 stocks (+ S&amp;P500) provided positive cumulative returns over this 5 year period</a:t>
            </a:r>
          </a:p>
          <a:p>
            <a:r>
              <a:rPr lang="en-IN" dirty="0"/>
              <a:t>Recommended stocks have been selected from the above 12 stocks</a:t>
            </a:r>
          </a:p>
          <a:p>
            <a:r>
              <a:rPr lang="en-IN" dirty="0"/>
              <a:t>AMZN, AAPL and MSFT are the top 3 performers in terms of both Annualized and Cumulative Returns</a:t>
            </a:r>
            <a:endParaRPr lang="en-GB" dirty="0"/>
          </a:p>
          <a:p>
            <a:pPr lvl="2"/>
            <a:endParaRPr lang="en-GB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E894E-D39A-5A0F-1C1C-2B856F2FA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265"/>
          <a:stretch>
            <a:fillRect/>
          </a:stretch>
        </p:blipFill>
        <p:spPr>
          <a:xfrm>
            <a:off x="6577198" y="145775"/>
            <a:ext cx="5001081" cy="4306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A7CCBE-FE42-6CCA-FDAF-AF4CC68F94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757" b="9759"/>
          <a:stretch>
            <a:fillRect/>
          </a:stretch>
        </p:blipFill>
        <p:spPr>
          <a:xfrm>
            <a:off x="6577197" y="4518992"/>
            <a:ext cx="4999383" cy="2292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B47A82-285D-5495-74D4-7EDFA9822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752" y="4518991"/>
            <a:ext cx="666784" cy="229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3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90"/>
    </mc:Choice>
    <mc:Fallback xmlns="">
      <p:transition spd="slow" advTm="3329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FC53-31E6-3003-DD73-1FEDCF72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B974-E8D2-8FAA-1082-E52E172D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4814"/>
            <a:ext cx="9905998" cy="812717"/>
          </a:xfrm>
        </p:spPr>
        <p:txBody>
          <a:bodyPr/>
          <a:lstStyle/>
          <a:p>
            <a:r>
              <a:rPr lang="en-IN" dirty="0"/>
              <a:t>DATA Insights -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84B97-5C16-32DD-27B9-F72562432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965" y="1154811"/>
            <a:ext cx="4999383" cy="4242191"/>
          </a:xfrm>
        </p:spPr>
        <p:txBody>
          <a:bodyPr>
            <a:normAutofit/>
          </a:bodyPr>
          <a:lstStyle/>
          <a:p>
            <a:r>
              <a:rPr lang="en-IN" sz="2000" dirty="0"/>
              <a:t>The following stocks are the least risky:</a:t>
            </a:r>
          </a:p>
          <a:p>
            <a:pPr lvl="1"/>
            <a:r>
              <a:rPr lang="en-GB" sz="1800" dirty="0"/>
              <a:t>JNJ</a:t>
            </a:r>
          </a:p>
          <a:p>
            <a:pPr lvl="1"/>
            <a:r>
              <a:rPr lang="en-GB" sz="1800" dirty="0"/>
              <a:t>RHHBY</a:t>
            </a:r>
          </a:p>
          <a:p>
            <a:pPr lvl="1"/>
            <a:r>
              <a:rPr lang="en-GB" sz="1800" dirty="0"/>
              <a:t>PFE</a:t>
            </a:r>
          </a:p>
          <a:p>
            <a:pPr lvl="1"/>
            <a:r>
              <a:rPr lang="en-GB" sz="1800" dirty="0"/>
              <a:t>MRK</a:t>
            </a:r>
          </a:p>
          <a:p>
            <a:pPr lvl="1"/>
            <a:r>
              <a:rPr lang="en-GB" sz="1800" dirty="0"/>
              <a:t>GOOG</a:t>
            </a:r>
          </a:p>
          <a:p>
            <a:pPr lvl="2"/>
            <a:endParaRPr lang="en-GB" dirty="0"/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355FA9-40E2-A9C9-0F61-7B66B3B07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45" y="4043500"/>
            <a:ext cx="5212807" cy="24245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6C5154-98D9-7A0E-7770-443BE70EB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615" y="1154811"/>
            <a:ext cx="6382403" cy="53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6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88"/>
    </mc:Choice>
    <mc:Fallback xmlns="">
      <p:transition spd="slow" advTm="4618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E259C-6302-6951-90BB-9B950534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BC20-20B4-1745-9781-D840FB113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22" y="466118"/>
            <a:ext cx="9905998" cy="812717"/>
          </a:xfrm>
        </p:spPr>
        <p:txBody>
          <a:bodyPr>
            <a:noAutofit/>
          </a:bodyPr>
          <a:lstStyle/>
          <a:p>
            <a:r>
              <a:rPr lang="en-IN" dirty="0"/>
              <a:t>DATA INSIGHTS</a:t>
            </a:r>
            <a:br>
              <a:rPr lang="en-IN" dirty="0"/>
            </a:br>
            <a:r>
              <a:rPr lang="en-IN" sz="2400" dirty="0"/>
              <a:t>SECTOR ANALYSIS - 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FA5A1C-F40C-C08D-6A85-0F4E85335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325" y="4283695"/>
            <a:ext cx="4875075" cy="23688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/>
              <a:t>Finance</a:t>
            </a:r>
          </a:p>
          <a:p>
            <a:r>
              <a:rPr lang="en-IN" sz="1600" dirty="0"/>
              <a:t>Finance does not have a clear correlation to S&amp;P 500 (though it is positive for some stocks)</a:t>
            </a:r>
          </a:p>
          <a:p>
            <a:r>
              <a:rPr lang="en-IN" sz="1600" dirty="0"/>
              <a:t>Most stocks dipped in early 2020 but have been able to recover since then</a:t>
            </a:r>
          </a:p>
          <a:p>
            <a:r>
              <a:rPr lang="en-IN" sz="1600" dirty="0"/>
              <a:t>Goldman Sachs and Morgan Stanley are highly correlated within the sector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613B89A-EE32-9E86-E7F3-C99242B9720A}"/>
              </a:ext>
            </a:extLst>
          </p:cNvPr>
          <p:cNvSpPr txBox="1">
            <a:spLocks/>
          </p:cNvSpPr>
          <p:nvPr/>
        </p:nvSpPr>
        <p:spPr>
          <a:xfrm>
            <a:off x="1373325" y="1914800"/>
            <a:ext cx="4875075" cy="236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b="1" dirty="0"/>
              <a:t>Aviation</a:t>
            </a:r>
          </a:p>
          <a:p>
            <a:r>
              <a:rPr lang="en-IN" dirty="0"/>
              <a:t>Aviation has a negative correlation to S&amp;P 500</a:t>
            </a:r>
          </a:p>
          <a:p>
            <a:r>
              <a:rPr lang="en-IN" dirty="0"/>
              <a:t>Returns have likely dipped because of Coronavirus pandemic since early 2020</a:t>
            </a:r>
          </a:p>
          <a:p>
            <a:r>
              <a:rPr lang="en-IN" dirty="0"/>
              <a:t>There is some positive correlation between Delta and Allegiant and Delta and Southwest Airlines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DB9B24-102F-FD71-BBDD-E9FCB6EE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279" y="466118"/>
            <a:ext cx="5753396" cy="13958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5A316B-D0B2-298D-4D8B-7A7BB1609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04"/>
          <a:stretch>
            <a:fillRect/>
          </a:stretch>
        </p:blipFill>
        <p:spPr>
          <a:xfrm>
            <a:off x="6270279" y="1914800"/>
            <a:ext cx="5753396" cy="24202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1B13A-F25B-678A-BF54-6AC59E597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980" y="4405041"/>
            <a:ext cx="5740695" cy="23115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B93230-F6CF-B017-132A-3379A51D2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0135" y="2020956"/>
            <a:ext cx="730288" cy="971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5719B3-E08C-AC7D-0C5E-B9A62E172A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169" y="4405041"/>
            <a:ext cx="863644" cy="9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9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713"/>
    </mc:Choice>
    <mc:Fallback xmlns="">
      <p:transition spd="slow" advTm="5171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476C-4D54-A648-70B2-D6D5EF9C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F76AFE-4A2D-E2FD-AEC7-C0FE20615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325" y="4283695"/>
            <a:ext cx="4875075" cy="23688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Technology</a:t>
            </a:r>
          </a:p>
          <a:p>
            <a:r>
              <a:rPr lang="en-IN" sz="1600" dirty="0"/>
              <a:t>Technology has a positive correlation to S&amp;P 500</a:t>
            </a:r>
          </a:p>
          <a:p>
            <a:r>
              <a:rPr lang="en-IN" sz="1600" dirty="0"/>
              <a:t>Most stocks have outperformed the S&amp;P 500 index</a:t>
            </a:r>
          </a:p>
          <a:p>
            <a:r>
              <a:rPr lang="en-IN" sz="1600" dirty="0"/>
              <a:t>In terms of returns, technology is the strongest sector, hence suggested for investors looking for high returns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76AD3F1-E9F5-9D01-12D8-E406A9340AB4}"/>
              </a:ext>
            </a:extLst>
          </p:cNvPr>
          <p:cNvSpPr txBox="1">
            <a:spLocks/>
          </p:cNvSpPr>
          <p:nvPr/>
        </p:nvSpPr>
        <p:spPr>
          <a:xfrm>
            <a:off x="1373325" y="1914800"/>
            <a:ext cx="4875075" cy="236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b="1" dirty="0"/>
              <a:t>Pharma / HealthCare</a:t>
            </a:r>
          </a:p>
          <a:p>
            <a:r>
              <a:rPr lang="en-IN" dirty="0"/>
              <a:t>Pharma/Healthcare has a positive correlation to S&amp;P 500</a:t>
            </a:r>
          </a:p>
          <a:p>
            <a:r>
              <a:rPr lang="en-IN" dirty="0"/>
              <a:t>Pharma showed positive growth in 2020 during the Coronavirus pandemic</a:t>
            </a:r>
          </a:p>
          <a:p>
            <a:r>
              <a:rPr lang="en-IN" dirty="0"/>
              <a:t>In general, Pharma stocks have the lowest risk, hence suggested for low risk investors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AF32F3-8477-622F-D33F-6E9CF605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83"/>
          <a:stretch>
            <a:fillRect/>
          </a:stretch>
        </p:blipFill>
        <p:spPr>
          <a:xfrm>
            <a:off x="6248399" y="466118"/>
            <a:ext cx="5702593" cy="13958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0BE1FC-3C31-845F-DB89-00ECF3128C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58"/>
          <a:stretch>
            <a:fillRect/>
          </a:stretch>
        </p:blipFill>
        <p:spPr>
          <a:xfrm>
            <a:off x="6248400" y="1914801"/>
            <a:ext cx="5702593" cy="2421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363DD6-F318-E09D-9227-9B5D3878BE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78"/>
          <a:stretch>
            <a:fillRect/>
          </a:stretch>
        </p:blipFill>
        <p:spPr>
          <a:xfrm>
            <a:off x="6257578" y="4409592"/>
            <a:ext cx="5693415" cy="23688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825E9E-89A8-2B4E-2273-8CD0AA821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525" y="2270790"/>
            <a:ext cx="685835" cy="977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97CBFD-E626-576E-EBAA-A01E9A876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525" y="4847511"/>
            <a:ext cx="749339" cy="939848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B49DE952-236E-50D5-EF4A-E78CD8DB1D61}"/>
              </a:ext>
            </a:extLst>
          </p:cNvPr>
          <p:cNvSpPr txBox="1">
            <a:spLocks/>
          </p:cNvSpPr>
          <p:nvPr/>
        </p:nvSpPr>
        <p:spPr>
          <a:xfrm>
            <a:off x="1194422" y="466118"/>
            <a:ext cx="9905998" cy="812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DATA INSIGHTS</a:t>
            </a:r>
            <a:br>
              <a:rPr lang="en-IN" dirty="0"/>
            </a:br>
            <a:r>
              <a:rPr lang="en-IN" sz="2400" dirty="0"/>
              <a:t>SECTOR ANALYSIS - 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00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63"/>
    </mc:Choice>
    <mc:Fallback xmlns="">
      <p:transition spd="slow" advTm="4896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F585-33DB-F3E4-3C65-7F09E279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A18DB5A-5504-7D41-C0B7-C90E0BECB584}"/>
              </a:ext>
            </a:extLst>
          </p:cNvPr>
          <p:cNvSpPr txBox="1">
            <a:spLocks/>
          </p:cNvSpPr>
          <p:nvPr/>
        </p:nvSpPr>
        <p:spPr>
          <a:xfrm>
            <a:off x="1194422" y="466119"/>
            <a:ext cx="9905998" cy="6006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DATA INSIGHTS - Correlation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190B1B-0D6B-B9D0-7BC2-31532B3B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761" y="1277258"/>
            <a:ext cx="8900549" cy="538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7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419"/>
    </mc:Choice>
    <mc:Fallback xmlns="">
      <p:transition spd="slow" advTm="2841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2AE0-BF66-32A4-2BEF-D3969457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F3A9-EEE9-BC8F-A3C5-0320ACF9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9586"/>
          </a:xfrm>
        </p:spPr>
        <p:txBody>
          <a:bodyPr/>
          <a:lstStyle/>
          <a:p>
            <a:r>
              <a:rPr lang="en-IN" dirty="0"/>
              <a:t>Appendix 1: Steps Followed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B4E81-A584-6ECA-2517-A3EEA12D0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962"/>
            <a:ext cx="9426505" cy="424219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Reduced data to past 5 years</a:t>
            </a:r>
          </a:p>
          <a:p>
            <a:r>
              <a:rPr lang="en-IN" dirty="0"/>
              <a:t>Merged individual datasets in one single dataset</a:t>
            </a:r>
          </a:p>
          <a:p>
            <a:r>
              <a:rPr lang="en-IN" dirty="0"/>
              <a:t>Examined dataset for missing values and outliers</a:t>
            </a:r>
          </a:p>
          <a:p>
            <a:r>
              <a:rPr lang="en-IN" dirty="0"/>
              <a:t>Performed required calculations: Daily returns, Dispersion from mean, Max/min prices, Risk/Volatility, Sharpe Ration, Correlation</a:t>
            </a:r>
          </a:p>
          <a:p>
            <a:r>
              <a:rPr lang="en-IN" dirty="0"/>
              <a:t>Compared stocks against each other and within industry vs S&amp;P 500</a:t>
            </a:r>
          </a:p>
          <a:p>
            <a:r>
              <a:rPr lang="en-IN" dirty="0"/>
              <a:t>Identified the best stocks suited for the portfolios based on the requirements provided</a:t>
            </a:r>
          </a:p>
          <a:p>
            <a:r>
              <a:rPr lang="en-IN" dirty="0"/>
              <a:t>Tools used: Jupyter Notebook, Tableau</a:t>
            </a:r>
          </a:p>
          <a:p>
            <a:endParaRPr lang="en-GB" dirty="0"/>
          </a:p>
          <a:p>
            <a:pPr lvl="2"/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38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23"/>
    </mc:Choice>
    <mc:Fallback xmlns="">
      <p:transition spd="slow" advTm="652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E9752-722D-5AF0-572C-53A2BD52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851F-6D53-1724-584E-E2A0E075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804" y="198784"/>
            <a:ext cx="9905998" cy="779586"/>
          </a:xfrm>
        </p:spPr>
        <p:txBody>
          <a:bodyPr/>
          <a:lstStyle/>
          <a:p>
            <a:r>
              <a:rPr lang="en-IN" dirty="0"/>
              <a:t>Appendix 2: Summary of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EDDF7-1DE1-8217-EC34-01CCE49B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2" b="1"/>
          <a:stretch>
            <a:fillRect/>
          </a:stretch>
        </p:blipFill>
        <p:spPr>
          <a:xfrm>
            <a:off x="2418522" y="962276"/>
            <a:ext cx="6449217" cy="569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8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60"/>
    </mc:Choice>
    <mc:Fallback xmlns="">
      <p:transition spd="slow" advTm="806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B7DA-93F2-1780-391F-ED16F97F2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AEEF-31F3-A8B0-CDE5-264F49F7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804" y="198784"/>
            <a:ext cx="9905998" cy="779586"/>
          </a:xfrm>
        </p:spPr>
        <p:txBody>
          <a:bodyPr/>
          <a:lstStyle/>
          <a:p>
            <a:r>
              <a:rPr lang="en-IN" dirty="0"/>
              <a:t>Appendix 3: PORTFOLIO RETURNS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E50FB-FBFC-EF93-E108-A088D6D06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43" y="931052"/>
            <a:ext cx="8980519" cy="572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71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60"/>
    </mc:Choice>
    <mc:Fallback xmlns="">
      <p:transition spd="slow" advTm="806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220</TotalTime>
  <Words>649</Words>
  <Application>Microsoft Office PowerPoint</Application>
  <PresentationFormat>Widescreen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Circuit</vt:lpstr>
      <vt:lpstr>Capstone Project Finance and Risk Analytics</vt:lpstr>
      <vt:lpstr>AGENDA</vt:lpstr>
      <vt:lpstr>Business Case</vt:lpstr>
      <vt:lpstr>Data Provided</vt:lpstr>
      <vt:lpstr>Conclusion: Suggested Portfolio</vt:lpstr>
      <vt:lpstr>DATA Insights - RETURNS</vt:lpstr>
      <vt:lpstr>DATA Insights - RISK</vt:lpstr>
      <vt:lpstr>DATA INSIGHTS SECTOR ANALYSIS - I</vt:lpstr>
      <vt:lpstr>PowerPoint Presentation</vt:lpstr>
      <vt:lpstr>PowerPoint Presentation</vt:lpstr>
      <vt:lpstr>Appendix 1: Steps Followed</vt:lpstr>
      <vt:lpstr>Appendix 2: Summary of METRICS</vt:lpstr>
      <vt:lpstr>Appendix 3: PORTFOLIO RETURNS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 Srivastava</dc:creator>
  <cp:lastModifiedBy>Siddhartha Srivastava</cp:lastModifiedBy>
  <cp:revision>4</cp:revision>
  <dcterms:created xsi:type="dcterms:W3CDTF">2025-12-25T15:31:04Z</dcterms:created>
  <dcterms:modified xsi:type="dcterms:W3CDTF">2025-12-27T18:05:42Z</dcterms:modified>
</cp:coreProperties>
</file>